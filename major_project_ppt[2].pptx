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6" r:id="rId1"/>
  </p:sldMasterIdLst>
  <p:notesMasterIdLst>
    <p:notesMasterId r:id="rId20"/>
  </p:notesMasterIdLst>
  <p:sldIdLst>
    <p:sldId id="256" r:id="rId2"/>
    <p:sldId id="257" r:id="rId3"/>
    <p:sldId id="279" r:id="rId4"/>
    <p:sldId id="258" r:id="rId5"/>
    <p:sldId id="265" r:id="rId6"/>
    <p:sldId id="273" r:id="rId7"/>
    <p:sldId id="259" r:id="rId8"/>
    <p:sldId id="266" r:id="rId9"/>
    <p:sldId id="272" r:id="rId10"/>
    <p:sldId id="269" r:id="rId11"/>
    <p:sldId id="275" r:id="rId12"/>
    <p:sldId id="276" r:id="rId13"/>
    <p:sldId id="270" r:id="rId14"/>
    <p:sldId id="271" r:id="rId15"/>
    <p:sldId id="283" r:id="rId16"/>
    <p:sldId id="281" r:id="rId17"/>
    <p:sldId id="284" r:id="rId18"/>
    <p:sldId id="262" r:id="rId19"/>
  </p:sldIdLst>
  <p:sldSz cx="12192000" cy="6858000"/>
  <p:notesSz cx="6858000" cy="9144000"/>
  <p:embeddedFontLst>
    <p:embeddedFont>
      <p:font typeface="Corbel" panose="020B05030202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4F7"/>
    <a:srgbClr val="D6DCE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74" autoAdjust="0"/>
  </p:normalViewPr>
  <p:slideViewPr>
    <p:cSldViewPr snapToGrid="0">
      <p:cViewPr varScale="1">
        <p:scale>
          <a:sx n="65" d="100"/>
          <a:sy n="65" d="100"/>
        </p:scale>
        <p:origin x="73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0205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1809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0243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3416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4846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1189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1902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266164D7-5728-8518-66C6-33C7AB5BC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>
            <a:extLst>
              <a:ext uri="{FF2B5EF4-FFF2-40B4-BE49-F238E27FC236}">
                <a16:creationId xmlns:a16="http://schemas.microsoft.com/office/drawing/2014/main" id="{6A11AD09-AE74-BC99-9DD0-5024EDD19D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4:notes">
            <a:extLst>
              <a:ext uri="{FF2B5EF4-FFF2-40B4-BE49-F238E27FC236}">
                <a16:creationId xmlns:a16="http://schemas.microsoft.com/office/drawing/2014/main" id="{CDBFA2BB-D9FA-D6B7-D4E0-95C15BE1EE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:notes">
            <a:extLst>
              <a:ext uri="{FF2B5EF4-FFF2-40B4-BE49-F238E27FC236}">
                <a16:creationId xmlns:a16="http://schemas.microsoft.com/office/drawing/2014/main" id="{43D49A3B-50C5-9FA6-0249-08B5644A02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2401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c138675732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c138675732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c138675732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01">
  <p:cSld name="Title Slide_0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343650" y="2173288"/>
            <a:ext cx="5143500" cy="2090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orbel"/>
              <a:buNone/>
              <a:defRPr sz="5400" b="1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>
            <a:spLocks noGrp="1"/>
          </p:cNvSpPr>
          <p:nvPr>
            <p:ph type="pic" idx="2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19" name="Google Shape;19;p2"/>
          <p:cNvGrpSpPr/>
          <p:nvPr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</p:grpSpPr>
        <p:sp>
          <p:nvSpPr>
            <p:cNvPr id="20" name="Google Shape;20;p2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2">
                <a:alpha val="9098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2">
                <a:alpha val="9098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72999" y="1312605"/>
            <a:ext cx="1745251" cy="6733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2"/>
          <p:cNvCxnSpPr/>
          <p:nvPr/>
        </p:nvCxnSpPr>
        <p:spPr>
          <a:xfrm>
            <a:off x="6469778" y="4233582"/>
            <a:ext cx="253233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02">
  <p:cSld name="Title Slide_0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>
            <a:off x="6343650" y="2173288"/>
            <a:ext cx="5143500" cy="2090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rbel"/>
              <a:buNone/>
              <a:defRPr sz="5400" b="1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3"/>
          <p:cNvSpPr>
            <a:spLocks noGrp="1"/>
          </p:cNvSpPr>
          <p:nvPr>
            <p:ph type="pic" idx="2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29" name="Google Shape;29;p3"/>
          <p:cNvGrpSpPr/>
          <p:nvPr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</p:grpSpPr>
        <p:sp>
          <p:nvSpPr>
            <p:cNvPr id="30" name="Google Shape;30;p3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1">
                <a:alpha val="1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1">
                <a:alpha val="1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" name="Google Shape;3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15850" y="391862"/>
            <a:ext cx="1745251" cy="6733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33;p3"/>
          <p:cNvCxnSpPr/>
          <p:nvPr/>
        </p:nvCxnSpPr>
        <p:spPr>
          <a:xfrm>
            <a:off x="6469778" y="4233582"/>
            <a:ext cx="2532336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Image">
  <p:cSld name="Title and Content with Imag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538960" y="1825625"/>
            <a:ext cx="49141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046" y="6261436"/>
            <a:ext cx="1073019" cy="41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5"/>
          <p:cNvGrpSpPr/>
          <p:nvPr/>
        </p:nvGrpSpPr>
        <p:grpSpPr>
          <a:xfrm rot="8650774">
            <a:off x="5037655" y="4336093"/>
            <a:ext cx="1905000" cy="2354263"/>
            <a:chOff x="11114088" y="2241550"/>
            <a:chExt cx="1905000" cy="2354263"/>
          </a:xfrm>
        </p:grpSpPr>
        <p:sp>
          <p:nvSpPr>
            <p:cNvPr id="47" name="Google Shape;47;p5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1728451" y="3071813"/>
              <a:ext cx="306388" cy="719138"/>
            </a:xfrm>
            <a:custGeom>
              <a:avLst/>
              <a:gdLst/>
              <a:ahLst/>
              <a:cxnLst/>
              <a:rect l="l" t="t" r="r" b="b"/>
              <a:pathLst>
                <a:path w="72" h="169" extrusionOk="0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50;p5"/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11363696" y="6455739"/>
            <a:ext cx="294460" cy="187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5"/>
          <p:cNvSpPr>
            <a:spLocks noGrp="1"/>
          </p:cNvSpPr>
          <p:nvPr>
            <p:ph type="pic" idx="2"/>
          </p:nvPr>
        </p:nvSpPr>
        <p:spPr>
          <a:xfrm>
            <a:off x="5884648" y="0"/>
            <a:ext cx="6307353" cy="578037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02">
  <p:cSld name="Title and Content 0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1"/>
          </p:nvPr>
        </p:nvSpPr>
        <p:spPr>
          <a:xfrm>
            <a:off x="538960" y="1825625"/>
            <a:ext cx="49141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046" y="6261436"/>
            <a:ext cx="1073019" cy="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 txBox="1">
            <a:spLocks noGrp="1"/>
          </p:cNvSpPr>
          <p:nvPr>
            <p:ph type="sldNum" idx="12"/>
          </p:nvPr>
        </p:nvSpPr>
        <p:spPr>
          <a:xfrm>
            <a:off x="11363696" y="6455739"/>
            <a:ext cx="294460" cy="187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20405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lt2">
              <a:alpha val="5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>
            <a:spLocks noGrp="1"/>
          </p:cNvSpPr>
          <p:nvPr>
            <p:ph type="pic" idx="2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Layout">
  <p:cSld name="Comparison Layou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1"/>
          </p:nvPr>
        </p:nvSpPr>
        <p:spPr>
          <a:xfrm>
            <a:off x="680934" y="2863158"/>
            <a:ext cx="4074002" cy="284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046" y="6261436"/>
            <a:ext cx="1073019" cy="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 txBox="1">
            <a:spLocks noGrp="1"/>
          </p:cNvSpPr>
          <p:nvPr>
            <p:ph type="sldNum" idx="12"/>
          </p:nvPr>
        </p:nvSpPr>
        <p:spPr>
          <a:xfrm>
            <a:off x="11363696" y="6455739"/>
            <a:ext cx="294460" cy="187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body" idx="2"/>
          </p:nvPr>
        </p:nvSpPr>
        <p:spPr>
          <a:xfrm>
            <a:off x="1309370" y="1903728"/>
            <a:ext cx="3445566" cy="4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body" idx="3"/>
          </p:nvPr>
        </p:nvSpPr>
        <p:spPr>
          <a:xfrm>
            <a:off x="7327918" y="1648186"/>
            <a:ext cx="4074002" cy="2834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body" idx="4"/>
          </p:nvPr>
        </p:nvSpPr>
        <p:spPr>
          <a:xfrm>
            <a:off x="7475709" y="4963450"/>
            <a:ext cx="3445566" cy="4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5084763" y="1652762"/>
            <a:ext cx="1001899" cy="1001899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>
            <a:spLocks noGrp="1"/>
          </p:cNvSpPr>
          <p:nvPr>
            <p:ph type="pic" idx="5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8"/>
          <p:cNvSpPr/>
          <p:nvPr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>
            <a:spLocks noGrp="1"/>
          </p:cNvSpPr>
          <p:nvPr>
            <p:ph type="pic" idx="6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 rot="-2149226">
            <a:off x="7430044" y="-1843126"/>
            <a:ext cx="4436224" cy="5482435"/>
            <a:chOff x="11114088" y="2241550"/>
            <a:chExt cx="1905000" cy="2354263"/>
          </a:xfrm>
        </p:grpSpPr>
        <p:sp>
          <p:nvSpPr>
            <p:cNvPr id="99" name="Google Shape;99;p9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11728451" y="3071813"/>
              <a:ext cx="306388" cy="719138"/>
            </a:xfrm>
            <a:custGeom>
              <a:avLst/>
              <a:gdLst/>
              <a:ahLst/>
              <a:cxnLst/>
              <a:rect l="l" t="t" r="r" b="b"/>
              <a:pathLst>
                <a:path w="72" h="169" extrusionOk="0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9"/>
          <p:cNvSpPr txBox="1"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9"/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046" y="6261436"/>
            <a:ext cx="1073019" cy="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9"/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 txBox="1">
            <a:spLocks noGrp="1"/>
          </p:cNvSpPr>
          <p:nvPr>
            <p:ph type="sldNum" idx="12"/>
          </p:nvPr>
        </p:nvSpPr>
        <p:spPr>
          <a:xfrm>
            <a:off x="11363696" y="6455739"/>
            <a:ext cx="294460" cy="187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Slide">
  <p:cSld name="Team Slid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0"/>
          <p:cNvGrpSpPr/>
          <p:nvPr/>
        </p:nvGrpSpPr>
        <p:grpSpPr>
          <a:xfrm rot="-2149226">
            <a:off x="7430044" y="-1843126"/>
            <a:ext cx="4436224" cy="5482435"/>
            <a:chOff x="11114088" y="2241550"/>
            <a:chExt cx="1905000" cy="2354263"/>
          </a:xfrm>
        </p:grpSpPr>
        <p:sp>
          <p:nvSpPr>
            <p:cNvPr id="109" name="Google Shape;109;p10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11728451" y="3071813"/>
              <a:ext cx="306388" cy="719138"/>
            </a:xfrm>
            <a:custGeom>
              <a:avLst/>
              <a:gdLst/>
              <a:ahLst/>
              <a:cxnLst/>
              <a:rect l="l" t="t" r="r" b="b"/>
              <a:pathLst>
                <a:path w="72" h="169" extrusionOk="0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10"/>
          <p:cNvSpPr/>
          <p:nvPr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dk1">
              <a:alpha val="1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dk1">
              <a:alpha val="1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dk1">
              <a:alpha val="1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dk1">
              <a:alpha val="1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4011967" y="1778212"/>
            <a:ext cx="1320476" cy="362088"/>
          </a:xfrm>
          <a:custGeom>
            <a:avLst/>
            <a:gdLst/>
            <a:ahLst/>
            <a:cxnLst/>
            <a:rect l="l" t="t" r="r" b="b"/>
            <a:pathLst>
              <a:path w="1320476" h="362088" extrusionOk="0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6850703" y="1778212"/>
            <a:ext cx="1320476" cy="362088"/>
          </a:xfrm>
          <a:custGeom>
            <a:avLst/>
            <a:gdLst/>
            <a:ahLst/>
            <a:cxnLst/>
            <a:rect l="l" t="t" r="r" b="b"/>
            <a:pathLst>
              <a:path w="1320476" h="362088" extrusionOk="0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9703086" y="1778212"/>
            <a:ext cx="1320476" cy="362088"/>
          </a:xfrm>
          <a:custGeom>
            <a:avLst/>
            <a:gdLst/>
            <a:ahLst/>
            <a:cxnLst/>
            <a:rect l="l" t="t" r="r" b="b"/>
            <a:pathLst>
              <a:path w="1320476" h="362088" extrusionOk="0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1158568" y="1778212"/>
            <a:ext cx="1320476" cy="362088"/>
          </a:xfrm>
          <a:custGeom>
            <a:avLst/>
            <a:gdLst/>
            <a:ahLst/>
            <a:cxnLst/>
            <a:rect l="l" t="t" r="r" b="b"/>
            <a:pathLst>
              <a:path w="1320476" h="362088" extrusionOk="0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0"/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046" y="6261436"/>
            <a:ext cx="1073019" cy="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0"/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 txBox="1">
            <a:spLocks noGrp="1"/>
          </p:cNvSpPr>
          <p:nvPr>
            <p:ph type="sldNum" idx="12"/>
          </p:nvPr>
        </p:nvSpPr>
        <p:spPr>
          <a:xfrm>
            <a:off x="11363696" y="6455739"/>
            <a:ext cx="294460" cy="187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10"/>
          <p:cNvSpPr>
            <a:spLocks noGrp="1"/>
          </p:cNvSpPr>
          <p:nvPr>
            <p:ph type="pic" idx="2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6" name="Google Shape;126;p10"/>
          <p:cNvSpPr>
            <a:spLocks noGrp="1"/>
          </p:cNvSpPr>
          <p:nvPr>
            <p:ph type="pic" idx="3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7" name="Google Shape;127;p10"/>
          <p:cNvSpPr>
            <a:spLocks noGrp="1"/>
          </p:cNvSpPr>
          <p:nvPr>
            <p:ph type="pic" idx="4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8" name="Google Shape;128;p10"/>
          <p:cNvSpPr>
            <a:spLocks noGrp="1"/>
          </p:cNvSpPr>
          <p:nvPr>
            <p:ph type="pic" idx="5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9" name="Google Shape;129;p10"/>
          <p:cNvSpPr txBox="1">
            <a:spLocks noGrp="1"/>
          </p:cNvSpPr>
          <p:nvPr>
            <p:ph type="body" idx="1"/>
          </p:nvPr>
        </p:nvSpPr>
        <p:spPr>
          <a:xfrm>
            <a:off x="524454" y="4052306"/>
            <a:ext cx="2588705" cy="174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0"/>
          <p:cNvSpPr txBox="1">
            <a:spLocks noGrp="1"/>
          </p:cNvSpPr>
          <p:nvPr>
            <p:ph type="body" idx="6"/>
          </p:nvPr>
        </p:nvSpPr>
        <p:spPr>
          <a:xfrm>
            <a:off x="524454" y="3539268"/>
            <a:ext cx="2588705" cy="4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1D51"/>
              </a:buClr>
              <a:buSzPts val="1600"/>
              <a:buNone/>
              <a:defRPr sz="1600" b="1" cap="none">
                <a:solidFill>
                  <a:srgbClr val="0D1D5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10"/>
          <p:cNvSpPr txBox="1">
            <a:spLocks noGrp="1"/>
          </p:cNvSpPr>
          <p:nvPr>
            <p:ph type="body" idx="7"/>
          </p:nvPr>
        </p:nvSpPr>
        <p:spPr>
          <a:xfrm>
            <a:off x="3377853" y="4052306"/>
            <a:ext cx="2588705" cy="174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10"/>
          <p:cNvSpPr txBox="1">
            <a:spLocks noGrp="1"/>
          </p:cNvSpPr>
          <p:nvPr>
            <p:ph type="body" idx="8"/>
          </p:nvPr>
        </p:nvSpPr>
        <p:spPr>
          <a:xfrm>
            <a:off x="3377853" y="3539268"/>
            <a:ext cx="2588705" cy="4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1D51"/>
              </a:buClr>
              <a:buSzPts val="1600"/>
              <a:buNone/>
              <a:defRPr sz="1600" b="1" cap="none">
                <a:solidFill>
                  <a:srgbClr val="0D1D5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9"/>
          </p:nvPr>
        </p:nvSpPr>
        <p:spPr>
          <a:xfrm>
            <a:off x="6216589" y="4052306"/>
            <a:ext cx="2588705" cy="174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body" idx="13"/>
          </p:nvPr>
        </p:nvSpPr>
        <p:spPr>
          <a:xfrm>
            <a:off x="6216589" y="3539268"/>
            <a:ext cx="2588705" cy="4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1D51"/>
              </a:buClr>
              <a:buSzPts val="1600"/>
              <a:buNone/>
              <a:defRPr sz="1600" b="1" cap="none">
                <a:solidFill>
                  <a:srgbClr val="0D1D5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body" idx="14"/>
          </p:nvPr>
        </p:nvSpPr>
        <p:spPr>
          <a:xfrm>
            <a:off x="9068972" y="4052306"/>
            <a:ext cx="2588705" cy="174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body" idx="15"/>
          </p:nvPr>
        </p:nvSpPr>
        <p:spPr>
          <a:xfrm>
            <a:off x="9068972" y="3539268"/>
            <a:ext cx="2588705" cy="4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1D51"/>
              </a:buClr>
              <a:buSzPts val="1600"/>
              <a:buNone/>
              <a:defRPr sz="1600" b="1" cap="none">
                <a:solidFill>
                  <a:srgbClr val="0D1D5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1">
  <p:cSld name="Thank You 0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>
            <a:spLocks noGrp="1"/>
          </p:cNvSpPr>
          <p:nvPr>
            <p:ph type="subTitle" idx="1"/>
          </p:nvPr>
        </p:nvSpPr>
        <p:spPr>
          <a:xfrm>
            <a:off x="7002130" y="4484691"/>
            <a:ext cx="4540440" cy="50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cap="none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9" name="Google Shape;139;p11"/>
          <p:cNvSpPr>
            <a:spLocks noGrp="1"/>
          </p:cNvSpPr>
          <p:nvPr>
            <p:ph type="pic" idx="2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140" name="Google Shape;140;p11"/>
          <p:cNvGrpSpPr/>
          <p:nvPr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</p:grpSpPr>
        <p:sp>
          <p:nvSpPr>
            <p:cNvPr id="141" name="Google Shape;141;p11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2">
                <a:alpha val="9098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2">
                <a:alpha val="9098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3" name="Google Shape;14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72999" y="1844881"/>
            <a:ext cx="1745251" cy="6733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11"/>
          <p:cNvCxnSpPr/>
          <p:nvPr/>
        </p:nvCxnSpPr>
        <p:spPr>
          <a:xfrm>
            <a:off x="6469778" y="4233582"/>
            <a:ext cx="253233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5" name="Google Shape;145;p11"/>
          <p:cNvSpPr txBox="1">
            <a:spLocks noGrp="1"/>
          </p:cNvSpPr>
          <p:nvPr>
            <p:ph type="body" idx="3"/>
          </p:nvPr>
        </p:nvSpPr>
        <p:spPr>
          <a:xfrm>
            <a:off x="7002320" y="5012635"/>
            <a:ext cx="4533900" cy="50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cap="none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6" name="Google Shape;146;p11" descr="Envelo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1475" y="4452337"/>
            <a:ext cx="387795" cy="38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1" descr="Netwo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2084" y="4925640"/>
            <a:ext cx="426575" cy="4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 txBox="1"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orbel"/>
              <a:buNone/>
              <a:defRPr sz="6000" b="1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_02">
  <p:cSld name="1_Title Slide_02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>
            <a:spLocks noGrp="1"/>
          </p:cNvSpPr>
          <p:nvPr>
            <p:ph type="pic" idx="2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152" name="Google Shape;152;p12"/>
          <p:cNvGrpSpPr/>
          <p:nvPr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</p:grpSpPr>
        <p:sp>
          <p:nvSpPr>
            <p:cNvPr id="153" name="Google Shape;153;p12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1">
                <a:alpha val="1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2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1">
                <a:alpha val="1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5" name="Google Shape;155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15850" y="391862"/>
            <a:ext cx="1745251" cy="6733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2"/>
          <p:cNvCxnSpPr/>
          <p:nvPr/>
        </p:nvCxnSpPr>
        <p:spPr>
          <a:xfrm>
            <a:off x="6469778" y="4233582"/>
            <a:ext cx="2532336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7" name="Google Shape;157;p12" descr="Envelo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1475" y="4452337"/>
            <a:ext cx="387795" cy="38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2" descr="Netwo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2084" y="4925640"/>
            <a:ext cx="426575" cy="4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2"/>
          <p:cNvSpPr txBox="1">
            <a:spLocks noGrp="1"/>
          </p:cNvSpPr>
          <p:nvPr>
            <p:ph type="subTitle" idx="1"/>
          </p:nvPr>
        </p:nvSpPr>
        <p:spPr>
          <a:xfrm>
            <a:off x="7002130" y="4484691"/>
            <a:ext cx="4540440" cy="50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3"/>
          </p:nvPr>
        </p:nvSpPr>
        <p:spPr>
          <a:xfrm>
            <a:off x="7002320" y="5012635"/>
            <a:ext cx="4533900" cy="50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6469778" y="3158641"/>
            <a:ext cx="5011410" cy="92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sz="60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 txBox="1">
            <a:spLocks noGrp="1"/>
          </p:cNvSpPr>
          <p:nvPr>
            <p:ph type="ctrTitle"/>
          </p:nvPr>
        </p:nvSpPr>
        <p:spPr>
          <a:xfrm>
            <a:off x="6343650" y="2173288"/>
            <a:ext cx="5143500" cy="2090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rbel"/>
              <a:buNone/>
              <a:defRPr sz="5400" b="1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67" name="Google Shape;167;p13"/>
          <p:cNvGrpSpPr/>
          <p:nvPr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</p:grpSpPr>
        <p:sp>
          <p:nvSpPr>
            <p:cNvPr id="168" name="Google Shape;168;p13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1">
                <a:alpha val="1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1">
                <a:alpha val="1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0" name="Google Shape;17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15850" y="391862"/>
            <a:ext cx="1745251" cy="6733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3"/>
          <p:cNvCxnSpPr/>
          <p:nvPr/>
        </p:nvCxnSpPr>
        <p:spPr>
          <a:xfrm>
            <a:off x="6469778" y="4233582"/>
            <a:ext cx="2532336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5"/>
          <p:cNvGrpSpPr/>
          <p:nvPr/>
        </p:nvGrpSpPr>
        <p:grpSpPr>
          <a:xfrm rot="-2149226">
            <a:off x="7430044" y="-1843126"/>
            <a:ext cx="4436224" cy="5482435"/>
            <a:chOff x="11114088" y="2241550"/>
            <a:chExt cx="1905000" cy="2354263"/>
          </a:xfrm>
        </p:grpSpPr>
        <p:sp>
          <p:nvSpPr>
            <p:cNvPr id="186" name="Google Shape;186;p15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11728451" y="3071813"/>
              <a:ext cx="306388" cy="719138"/>
            </a:xfrm>
            <a:custGeom>
              <a:avLst/>
              <a:gdLst/>
              <a:ahLst/>
              <a:cxnLst/>
              <a:rect l="l" t="t" r="r" b="b"/>
              <a:pathLst>
                <a:path w="72" h="169" extrusionOk="0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15"/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 txBox="1">
            <a:spLocks noGrp="1"/>
          </p:cNvSpPr>
          <p:nvPr>
            <p:ph type="sldNum" idx="12"/>
          </p:nvPr>
        </p:nvSpPr>
        <p:spPr>
          <a:xfrm>
            <a:off x="11363696" y="6455739"/>
            <a:ext cx="294460" cy="187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5"/>
          <p:cNvSpPr txBox="1">
            <a:spLocks noGrp="1"/>
          </p:cNvSpPr>
          <p:nvPr>
            <p:ph type="body" idx="1"/>
          </p:nvPr>
        </p:nvSpPr>
        <p:spPr>
          <a:xfrm>
            <a:off x="515938" y="1825625"/>
            <a:ext cx="1083786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3" name="Google Shape;19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046" y="6261436"/>
            <a:ext cx="1073019" cy="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5"/>
          <p:cNvSpPr txBox="1"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16"/>
          <p:cNvGrpSpPr/>
          <p:nvPr/>
        </p:nvGrpSpPr>
        <p:grpSpPr>
          <a:xfrm rot="-2149226">
            <a:off x="7430044" y="-1843126"/>
            <a:ext cx="4436224" cy="5482435"/>
            <a:chOff x="11114088" y="2241550"/>
            <a:chExt cx="1905000" cy="2354263"/>
          </a:xfrm>
        </p:grpSpPr>
        <p:sp>
          <p:nvSpPr>
            <p:cNvPr id="197" name="Google Shape;197;p16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11728451" y="3071813"/>
              <a:ext cx="306388" cy="719138"/>
            </a:xfrm>
            <a:custGeom>
              <a:avLst/>
              <a:gdLst/>
              <a:ahLst/>
              <a:cxnLst/>
              <a:rect l="l" t="t" r="r" b="b"/>
              <a:pathLst>
                <a:path w="72" h="169" extrusionOk="0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6"/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>
            <a:spLocks noGrp="1"/>
          </p:cNvSpPr>
          <p:nvPr>
            <p:ph type="sldNum" idx="12"/>
          </p:nvPr>
        </p:nvSpPr>
        <p:spPr>
          <a:xfrm>
            <a:off x="11363696" y="6455739"/>
            <a:ext cx="294460" cy="187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6"/>
          <p:cNvSpPr txBox="1">
            <a:spLocks noGrp="1"/>
          </p:cNvSpPr>
          <p:nvPr>
            <p:ph type="body" idx="1"/>
          </p:nvPr>
        </p:nvSpPr>
        <p:spPr>
          <a:xfrm>
            <a:off x="515938" y="1825625"/>
            <a:ext cx="550386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5" name="Google Shape;205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046" y="6261436"/>
            <a:ext cx="1073019" cy="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7"/>
          <p:cNvGrpSpPr/>
          <p:nvPr/>
        </p:nvGrpSpPr>
        <p:grpSpPr>
          <a:xfrm rot="-2149226">
            <a:off x="7430044" y="-1843126"/>
            <a:ext cx="4436224" cy="5482435"/>
            <a:chOff x="11114088" y="2241550"/>
            <a:chExt cx="1905000" cy="2354263"/>
          </a:xfrm>
        </p:grpSpPr>
        <p:sp>
          <p:nvSpPr>
            <p:cNvPr id="209" name="Google Shape;209;p17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11728451" y="3071813"/>
              <a:ext cx="306388" cy="719138"/>
            </a:xfrm>
            <a:custGeom>
              <a:avLst/>
              <a:gdLst/>
              <a:ahLst/>
              <a:cxnLst/>
              <a:rect l="l" t="t" r="r" b="b"/>
              <a:pathLst>
                <a:path w="72" h="169" extrusionOk="0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solidFill>
              <a:schemeClr val="lt2">
                <a:alpha val="5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7"/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>
            <a:spLocks noGrp="1"/>
          </p:cNvSpPr>
          <p:nvPr>
            <p:ph type="sldNum" idx="12"/>
          </p:nvPr>
        </p:nvSpPr>
        <p:spPr>
          <a:xfrm>
            <a:off x="11363696" y="6455739"/>
            <a:ext cx="294460" cy="187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6" name="Google Shape;216;p17"/>
          <p:cNvSpPr txBox="1">
            <a:spLocks noGrp="1"/>
          </p:cNvSpPr>
          <p:nvPr>
            <p:ph type="body" idx="2"/>
          </p:nvPr>
        </p:nvSpPr>
        <p:spPr>
          <a:xfrm>
            <a:off x="51593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 b="1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8" name="Google Shape;218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9" name="Google Shape;21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046" y="6261436"/>
            <a:ext cx="1073019" cy="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>
            <a:spLocks noGrp="1"/>
          </p:cNvSpPr>
          <p:nvPr>
            <p:ph type="pic" idx="2"/>
          </p:nvPr>
        </p:nvSpPr>
        <p:spPr>
          <a:xfrm>
            <a:off x="6096000" y="768485"/>
            <a:ext cx="5305662" cy="530566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223" name="Google Shape;223;p18"/>
          <p:cNvGrpSpPr/>
          <p:nvPr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</p:grpSpPr>
        <p:sp>
          <p:nvSpPr>
            <p:cNvPr id="224" name="Google Shape;224;p18"/>
            <p:cNvSpPr/>
            <p:nvPr/>
          </p:nvSpPr>
          <p:spPr>
            <a:xfrm>
              <a:off x="11114088" y="2241550"/>
              <a:ext cx="1905000" cy="2354263"/>
            </a:xfrm>
            <a:custGeom>
              <a:avLst/>
              <a:gdLst/>
              <a:ahLst/>
              <a:cxnLst/>
              <a:rect l="l" t="t" r="r" b="b"/>
              <a:pathLst>
                <a:path w="447" h="553" extrusionOk="0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solidFill>
              <a:schemeClr val="lt2">
                <a:alpha val="9098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11412538" y="2590800"/>
              <a:ext cx="835025" cy="1673225"/>
            </a:xfrm>
            <a:custGeom>
              <a:avLst/>
              <a:gdLst/>
              <a:ahLst/>
              <a:cxnLst/>
              <a:rect l="l" t="t" r="r" b="b"/>
              <a:pathLst>
                <a:path w="196" h="393" extrusionOk="0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solidFill>
              <a:schemeClr val="lt2">
                <a:alpha val="9098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28" name="Google Shape;228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046" y="6261436"/>
            <a:ext cx="1073019" cy="4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/>
          <p:nvPr/>
        </p:nvSpPr>
        <p:spPr>
          <a:xfrm>
            <a:off x="6343650" y="1187900"/>
            <a:ext cx="1947300" cy="1095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6662050" y="2045150"/>
            <a:ext cx="555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7972425" y="2694225"/>
            <a:ext cx="4249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404875" y="1579800"/>
            <a:ext cx="5694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DEFORESTATION MAPPING USING SATELLITE IMAGES</a:t>
            </a:r>
            <a:endParaRPr sz="5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343650" y="4972000"/>
            <a:ext cx="5204700" cy="985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38974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UNDER THE SUPERVISION</a:t>
            </a:r>
            <a:endParaRPr sz="28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338974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DR. RAMESH KUMAR</a:t>
            </a:r>
            <a:endParaRPr sz="2400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6429375" y="4114800"/>
            <a:ext cx="2669700" cy="208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D0D220-B35D-A8EB-1441-C52EB3027FFA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grpSp>
        <p:nvGrpSpPr>
          <p:cNvPr id="4" name="object 11">
            <a:extLst>
              <a:ext uri="{FF2B5EF4-FFF2-40B4-BE49-F238E27FC236}">
                <a16:creationId xmlns:a16="http://schemas.microsoft.com/office/drawing/2014/main" id="{0F5C4503-FF4E-DC75-DC27-D6C0F038A4AA}"/>
              </a:ext>
            </a:extLst>
          </p:cNvPr>
          <p:cNvGrpSpPr/>
          <p:nvPr/>
        </p:nvGrpSpPr>
        <p:grpSpPr>
          <a:xfrm>
            <a:off x="643650" y="728545"/>
            <a:ext cx="8099756" cy="5305661"/>
            <a:chOff x="152400" y="237999"/>
            <a:chExt cx="8947150" cy="5969000"/>
          </a:xfrm>
        </p:grpSpPr>
        <p:sp>
          <p:nvSpPr>
            <p:cNvPr id="5" name="object 12">
              <a:extLst>
                <a:ext uri="{FF2B5EF4-FFF2-40B4-BE49-F238E27FC236}">
                  <a16:creationId xmlns:a16="http://schemas.microsoft.com/office/drawing/2014/main" id="{039530E9-1442-510F-D76D-CA98D07A3084}"/>
                </a:ext>
              </a:extLst>
            </p:cNvPr>
            <p:cNvSpPr/>
            <p:nvPr/>
          </p:nvSpPr>
          <p:spPr>
            <a:xfrm>
              <a:off x="6429375" y="4114800"/>
              <a:ext cx="2670175" cy="208279"/>
            </a:xfrm>
            <a:custGeom>
              <a:avLst/>
              <a:gdLst/>
              <a:ahLst/>
              <a:cxnLst/>
              <a:rect l="l" t="t" r="r" b="b"/>
              <a:pathLst>
                <a:path w="2670175" h="208279">
                  <a:moveTo>
                    <a:pt x="2669699" y="208199"/>
                  </a:moveTo>
                  <a:lnTo>
                    <a:pt x="0" y="208199"/>
                  </a:lnTo>
                  <a:lnTo>
                    <a:pt x="0" y="0"/>
                  </a:lnTo>
                  <a:lnTo>
                    <a:pt x="2669699" y="0"/>
                  </a:lnTo>
                  <a:lnTo>
                    <a:pt x="2669699" y="208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" name="object 13">
              <a:extLst>
                <a:ext uri="{FF2B5EF4-FFF2-40B4-BE49-F238E27FC236}">
                  <a16:creationId xmlns:a16="http://schemas.microsoft.com/office/drawing/2014/main" id="{1051CAED-94B2-3A1F-1186-5B4CD41A7AB5}"/>
                </a:ext>
              </a:extLst>
            </p:cNvPr>
            <p:cNvSpPr/>
            <p:nvPr/>
          </p:nvSpPr>
          <p:spPr>
            <a:xfrm>
              <a:off x="6429375" y="4114800"/>
              <a:ext cx="2670175" cy="208279"/>
            </a:xfrm>
            <a:custGeom>
              <a:avLst/>
              <a:gdLst/>
              <a:ahLst/>
              <a:cxnLst/>
              <a:rect l="l" t="t" r="r" b="b"/>
              <a:pathLst>
                <a:path w="2670175" h="208279">
                  <a:moveTo>
                    <a:pt x="0" y="0"/>
                  </a:moveTo>
                  <a:lnTo>
                    <a:pt x="2669699" y="0"/>
                  </a:lnTo>
                  <a:lnTo>
                    <a:pt x="2669699" y="208199"/>
                  </a:lnTo>
                  <a:lnTo>
                    <a:pt x="0" y="20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7" name="object 14">
              <a:extLst>
                <a:ext uri="{FF2B5EF4-FFF2-40B4-BE49-F238E27FC236}">
                  <a16:creationId xmlns:a16="http://schemas.microsoft.com/office/drawing/2014/main" id="{643E6510-587E-61CF-CDD3-D688BA1C1DD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237999"/>
              <a:ext cx="6038699" cy="5969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2CFD200-0ED3-6C96-6D6D-9389A6CDC859}"/>
              </a:ext>
            </a:extLst>
          </p:cNvPr>
          <p:cNvSpPr txBox="1"/>
          <p:nvPr/>
        </p:nvSpPr>
        <p:spPr>
          <a:xfrm>
            <a:off x="2804160" y="3590048"/>
            <a:ext cx="1663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Dehradun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 txBox="1">
            <a:spLocks noGrp="1"/>
          </p:cNvSpPr>
          <p:nvPr>
            <p:ph type="ctrTitle"/>
          </p:nvPr>
        </p:nvSpPr>
        <p:spPr>
          <a:xfrm>
            <a:off x="3524250" y="422375"/>
            <a:ext cx="5143500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rbel"/>
              <a:buNone/>
            </a:pPr>
            <a:r>
              <a:rPr lang="en-US" sz="3200" dirty="0"/>
              <a:t>INTRODUCTION</a:t>
            </a:r>
            <a:endParaRPr sz="3200" dirty="0"/>
          </a:p>
        </p:txBody>
      </p:sp>
      <p:sp>
        <p:nvSpPr>
          <p:cNvPr id="259" name="Google Shape;259;p21"/>
          <p:cNvSpPr/>
          <p:nvPr/>
        </p:nvSpPr>
        <p:spPr>
          <a:xfrm>
            <a:off x="9907375" y="330625"/>
            <a:ext cx="1836900" cy="722700"/>
          </a:xfrm>
          <a:prstGeom prst="rect">
            <a:avLst/>
          </a:prstGeom>
          <a:solidFill>
            <a:srgbClr val="2C567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6453875" y="4016825"/>
            <a:ext cx="2645100" cy="428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053175" y="1531050"/>
            <a:ext cx="9919500" cy="53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Deforestation is a critical environmental issue that significantly impacts biodiversity, climate change, and human livelihoods. </a:t>
            </a: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Accurate mapping and monitoring of deforestation are essential for effective forest management and conservation strategies.</a:t>
            </a: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project aims to develop a comprehensive deforestation mapping approach focusing on Dehradun, a district in India known for its rich forest cover. </a:t>
            </a: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primary objective is to </a:t>
            </a:r>
            <a:r>
              <a:rPr lang="en-IN" sz="1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analyze</a:t>
            </a:r>
            <a: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changes in forest cover over a one-year period, from 2015 to 2020, using remote sensing and advanced geospatial techniques.</a:t>
            </a: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0050" indent="-285750">
              <a:buClr>
                <a:schemeClr val="lt1"/>
              </a:buClr>
              <a:buSzPts val="1800"/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>
              <a:buClr>
                <a:schemeClr val="lt1"/>
              </a:buClr>
              <a:buSzPts val="1800"/>
            </a:pPr>
            <a:endParaRPr lang="en-IN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❏"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3FE3E3-6C2A-D20E-9DD8-479F4F74E5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D867C-D8D7-E18D-A0E7-484869610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28650" indent="-514350">
              <a:buAutoNum type="arabicPeriod"/>
            </a:pPr>
            <a:r>
              <a:rPr lang="en-IN" sz="2400" b="1" dirty="0"/>
              <a:t>Analysis of 2015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Detailed deforestation analysis was conducted on 2015 data in the pervious semester.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Outcomes provided insights into key deforestation trends.</a:t>
            </a:r>
          </a:p>
          <a:p>
            <a:pPr marL="628650" indent="-514350">
              <a:buAutoNum type="arabicPeriod" startAt="2"/>
            </a:pPr>
            <a:r>
              <a:rPr lang="en-IN" sz="2400" b="1" dirty="0"/>
              <a:t>Analysis of 2020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Currently applying the same methodology to 2020 data</a:t>
            </a:r>
            <a:r>
              <a:rPr lang="en-IN" sz="2400" dirty="0"/>
              <a:t>.</a:t>
            </a: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Ensures consistency in the approach for the accurate comparison.</a:t>
            </a:r>
            <a:r>
              <a:rPr lang="en-IN" dirty="0"/>
              <a:t> </a:t>
            </a:r>
          </a:p>
          <a:p>
            <a:pPr marL="114300" indent="0">
              <a:buNone/>
            </a:pPr>
            <a:r>
              <a:rPr lang="en-IN" sz="2400" dirty="0"/>
              <a:t>3.    </a:t>
            </a:r>
            <a:r>
              <a:rPr lang="en-IN" sz="2400" b="1" dirty="0"/>
              <a:t>Comparison of Outcomes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Results from 2015 and 2020 data will be </a:t>
            </a:r>
            <a:r>
              <a:rPr lang="en-IN" sz="2000" dirty="0" err="1"/>
              <a:t>cpmpared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Aim to identify patterns, trends, and changes in deforestation.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Insights will guide understanding of deforestation progression over time.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8127F4-CC6E-235E-58EC-376AC63A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Progression and Comparative Analysis of Deforestation Data (2015 vs 2020)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49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>
            <a:spLocks noGrp="1"/>
          </p:cNvSpPr>
          <p:nvPr>
            <p:ph type="title"/>
          </p:nvPr>
        </p:nvSpPr>
        <p:spPr>
          <a:xfrm>
            <a:off x="515950" y="499600"/>
            <a:ext cx="4937100" cy="9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 dirty="0"/>
              <a:t>MOTIVATION</a:t>
            </a:r>
            <a:br>
              <a:rPr lang="en-US" dirty="0"/>
            </a:br>
            <a:endParaRPr dirty="0"/>
          </a:p>
        </p:txBody>
      </p:sp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515950" y="1164325"/>
            <a:ext cx="11150700" cy="47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 sz="1800" dirty="0"/>
              <a:t>Deforestation poses a significant threat to ecosystems, biodiversity, and climate stability.</a:t>
            </a:r>
            <a:endParaRPr sz="1800" dirty="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 sz="1800" dirty="0"/>
              <a:t>Traditional monitoring methods have limitations in coverage, frequency, and accuracy.</a:t>
            </a:r>
            <a:endParaRPr sz="1800" dirty="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 sz="1800" dirty="0"/>
              <a:t>Integration of satellite imagery and deep learning offers a promising solution.</a:t>
            </a:r>
            <a:endParaRPr sz="1800" dirty="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 sz="1800" dirty="0"/>
              <a:t>Satellite images provide real-time, high-resolution data for detecting changes in land cover.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 sz="1800" dirty="0"/>
              <a:t>Deep learning algorithms automate the analysis of large datasets, enhancing precision in deforestation mapping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269" name="Google Shape;269;p22"/>
          <p:cNvSpPr/>
          <p:nvPr/>
        </p:nvSpPr>
        <p:spPr>
          <a:xfrm>
            <a:off x="515950" y="6208950"/>
            <a:ext cx="1175700" cy="57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11278950" y="6294675"/>
            <a:ext cx="502200" cy="48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>
            <a:spLocks noGrp="1"/>
          </p:cNvSpPr>
          <p:nvPr>
            <p:ph type="title"/>
          </p:nvPr>
        </p:nvSpPr>
        <p:spPr>
          <a:xfrm>
            <a:off x="515950" y="499600"/>
            <a:ext cx="4937100" cy="9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 dirty="0"/>
              <a:t>OBJECTIVES</a:t>
            </a:r>
            <a:br>
              <a:rPr lang="en-US" dirty="0"/>
            </a:br>
            <a:endParaRPr dirty="0"/>
          </a:p>
        </p:txBody>
      </p:sp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515950" y="1164325"/>
            <a:ext cx="11150700" cy="56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/>
              <a:t>Algorithm specific model training and optimization: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dirty="0"/>
              <a:t>K-Mean: Train and optimize K-Means clustering algorithms to  identify distinct cluster of deforested and non- deforested area.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dirty="0"/>
              <a:t>Random forest: Develop a random forest classifier using labelled satellite image to accurately classify deforestation pattern.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dirty="0"/>
              <a:t>ISO Clustering: Implement the ISO Clustering algorithm to automatically detect clusters in satellite data.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dirty="0"/>
              <a:t>MLC: Utilize maximum likelihood classifier to model the probability distribution of deforested and non- deforested classes and perform classification based on these probabilities.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IN" sz="2000" dirty="0"/>
          </a:p>
        </p:txBody>
      </p:sp>
      <p:sp>
        <p:nvSpPr>
          <p:cNvPr id="270" name="Google Shape;270;p22"/>
          <p:cNvSpPr/>
          <p:nvPr/>
        </p:nvSpPr>
        <p:spPr>
          <a:xfrm>
            <a:off x="11278950" y="6294675"/>
            <a:ext cx="502200" cy="48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43A53-8C8F-BDDD-E561-7E01D322F28F}"/>
              </a:ext>
            </a:extLst>
          </p:cNvPr>
          <p:cNvSpPr/>
          <p:nvPr/>
        </p:nvSpPr>
        <p:spPr>
          <a:xfrm>
            <a:off x="268448" y="6082018"/>
            <a:ext cx="1543574" cy="702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84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>
            <a:spLocks noGrp="1"/>
          </p:cNvSpPr>
          <p:nvPr>
            <p:ph type="title"/>
          </p:nvPr>
        </p:nvSpPr>
        <p:spPr>
          <a:xfrm>
            <a:off x="515950" y="499600"/>
            <a:ext cx="4937100" cy="9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 dirty="0"/>
              <a:t>OVERVIEW</a:t>
            </a:r>
            <a:br>
              <a:rPr lang="en-US" dirty="0"/>
            </a:br>
            <a:endParaRPr dirty="0"/>
          </a:p>
        </p:txBody>
      </p:sp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515950" y="1164325"/>
            <a:ext cx="11150700" cy="56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q"/>
            </a:pPr>
            <a:endParaRPr sz="2000" dirty="0"/>
          </a:p>
          <a:p>
            <a:pPr marL="762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project will follow a systematic approach involving: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/>
                </a:solidFill>
              </a:rPr>
              <a:t>Data collection: </a:t>
            </a:r>
            <a:r>
              <a:rPr lang="en-IN" sz="2000" dirty="0">
                <a:solidFill>
                  <a:schemeClr val="tx1"/>
                </a:solidFill>
              </a:rPr>
              <a:t>through sentinel-2, Copernicus.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/>
                </a:solidFill>
              </a:rPr>
              <a:t>Preprocessing: </a:t>
            </a:r>
            <a:r>
              <a:rPr lang="en-IN" sz="2000" dirty="0">
                <a:solidFill>
                  <a:schemeClr val="tx1"/>
                </a:solidFill>
              </a:rPr>
              <a:t>through SNAP , atmospheric correction.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</a:rPr>
              <a:t>Composing band: </a:t>
            </a:r>
            <a:r>
              <a:rPr lang="en-US" sz="2000" dirty="0">
                <a:solidFill>
                  <a:schemeClr val="tx1"/>
                </a:solidFill>
              </a:rPr>
              <a:t>merge band (2,3,4,8) through Arc GIS.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</a:rPr>
              <a:t>Mosaic: </a:t>
            </a:r>
            <a:r>
              <a:rPr lang="en-US" sz="2000" dirty="0">
                <a:solidFill>
                  <a:schemeClr val="tx1"/>
                </a:solidFill>
              </a:rPr>
              <a:t>merge three tiles through Arc GIS.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</a:rPr>
              <a:t>Masking: </a:t>
            </a:r>
            <a:r>
              <a:rPr lang="en-US" sz="2000" dirty="0">
                <a:solidFill>
                  <a:schemeClr val="tx1"/>
                </a:solidFill>
              </a:rPr>
              <a:t>extracting Dehradun shape through mosaic raster.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</a:rPr>
              <a:t>Creating training data.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</a:rPr>
              <a:t>Classification: </a:t>
            </a:r>
            <a:r>
              <a:rPr lang="en-US" sz="2000" dirty="0">
                <a:solidFill>
                  <a:schemeClr val="tx1"/>
                </a:solidFill>
              </a:rPr>
              <a:t>K-means, ISO Clustering, Random forest, MLC (Most Likelihood Classification).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IN" sz="2000" dirty="0"/>
          </a:p>
        </p:txBody>
      </p:sp>
      <p:sp>
        <p:nvSpPr>
          <p:cNvPr id="270" name="Google Shape;270;p22"/>
          <p:cNvSpPr/>
          <p:nvPr/>
        </p:nvSpPr>
        <p:spPr>
          <a:xfrm>
            <a:off x="11278950" y="6294675"/>
            <a:ext cx="502200" cy="48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43A53-8C8F-BDDD-E561-7E01D322F28F}"/>
              </a:ext>
            </a:extLst>
          </p:cNvPr>
          <p:cNvSpPr/>
          <p:nvPr/>
        </p:nvSpPr>
        <p:spPr>
          <a:xfrm>
            <a:off x="268448" y="6082018"/>
            <a:ext cx="1543574" cy="702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847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 txBox="1">
            <a:spLocks noGrp="1"/>
          </p:cNvSpPr>
          <p:nvPr>
            <p:ph type="title"/>
          </p:nvPr>
        </p:nvSpPr>
        <p:spPr>
          <a:xfrm>
            <a:off x="515950" y="66923"/>
            <a:ext cx="49371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 dirty="0"/>
              <a:t>SOLUTION</a:t>
            </a:r>
            <a:endParaRPr dirty="0"/>
          </a:p>
        </p:txBody>
      </p:sp>
      <p:sp>
        <p:nvSpPr>
          <p:cNvPr id="278" name="Google Shape;278;p23"/>
          <p:cNvSpPr txBox="1">
            <a:spLocks noGrp="1"/>
          </p:cNvSpPr>
          <p:nvPr>
            <p:ph type="sldNum" idx="12"/>
          </p:nvPr>
        </p:nvSpPr>
        <p:spPr>
          <a:xfrm>
            <a:off x="11363696" y="6455739"/>
            <a:ext cx="294460" cy="187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515950" y="6257925"/>
            <a:ext cx="1088400" cy="51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11217725" y="6331400"/>
            <a:ext cx="661200" cy="428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3"/>
          <p:cNvPicPr preferRelativeResize="0"/>
          <p:nvPr/>
        </p:nvPicPr>
        <p:blipFill>
          <a:blip r:embed="rId3"/>
          <a:srcRect/>
          <a:stretch/>
        </p:blipFill>
        <p:spPr>
          <a:xfrm>
            <a:off x="5055143" y="568960"/>
            <a:ext cx="5734777" cy="57624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631187-E05A-AFB4-37E9-F0EF9F06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77" y="96130"/>
            <a:ext cx="8686785" cy="1169814"/>
          </a:xfrm>
        </p:spPr>
        <p:txBody>
          <a:bodyPr/>
          <a:lstStyle/>
          <a:p>
            <a:r>
              <a:rPr lang="en-US" spc="5" dirty="0">
                <a:solidFill>
                  <a:schemeClr val="bg1"/>
                </a:solidFill>
              </a:rPr>
              <a:t>Processing of sentinel-2 data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0074EF-A6B6-B8A3-C97A-C5820C372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63382">
            <a:off x="254480" y="96130"/>
            <a:ext cx="7983836" cy="449015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634DBDE-FC10-0E89-387A-1ABD41A5F4DA}"/>
              </a:ext>
            </a:extLst>
          </p:cNvPr>
          <p:cNvSpPr/>
          <p:nvPr/>
        </p:nvSpPr>
        <p:spPr>
          <a:xfrm>
            <a:off x="6951492" y="3414255"/>
            <a:ext cx="3000755" cy="3000755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9000" r="-49000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935E898-DD1D-FE25-29ED-4922021E0F93}"/>
              </a:ext>
            </a:extLst>
          </p:cNvPr>
          <p:cNvSpPr/>
          <p:nvPr/>
        </p:nvSpPr>
        <p:spPr>
          <a:xfrm>
            <a:off x="9848996" y="6301586"/>
            <a:ext cx="51625" cy="51625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199B6B-5F02-709E-D4C4-D41B0546F11D}"/>
              </a:ext>
            </a:extLst>
          </p:cNvPr>
          <p:cNvSpPr/>
          <p:nvPr/>
        </p:nvSpPr>
        <p:spPr>
          <a:xfrm>
            <a:off x="10015360" y="3414245"/>
            <a:ext cx="1824459" cy="1824459"/>
          </a:xfrm>
          <a:prstGeom prst="rect">
            <a:avLst/>
          </a:prstGeom>
          <a:blipFill rotWithShape="0">
            <a:blip r:embed="rId4"/>
            <a:srcRect/>
            <a:stretch>
              <a:fillRect l="-40000" r="-40000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BFB692-7BCC-EFAE-75A1-25F22BB72EA8}"/>
              </a:ext>
            </a:extLst>
          </p:cNvPr>
          <p:cNvSpPr/>
          <p:nvPr/>
        </p:nvSpPr>
        <p:spPr>
          <a:xfrm>
            <a:off x="10015360" y="5291558"/>
            <a:ext cx="1824460" cy="1113280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00705B-C81E-21E9-6D8D-390E503E4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2246" y="5259069"/>
            <a:ext cx="1975593" cy="11559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352D705-E820-1494-DD9D-00666FA8FC52}"/>
              </a:ext>
            </a:extLst>
          </p:cNvPr>
          <p:cNvSpPr txBox="1"/>
          <p:nvPr/>
        </p:nvSpPr>
        <p:spPr>
          <a:xfrm>
            <a:off x="8451869" y="483313"/>
            <a:ext cx="36746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Composite of Sentinel-2 image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E87CB5-CBD4-DC72-091B-B8FADF48D051}"/>
              </a:ext>
            </a:extLst>
          </p:cNvPr>
          <p:cNvSpPr txBox="1"/>
          <p:nvPr/>
        </p:nvSpPr>
        <p:spPr>
          <a:xfrm>
            <a:off x="345440" y="6096000"/>
            <a:ext cx="1259840" cy="6658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A85E33-51F4-700C-5EDE-B58B7940DE44}"/>
              </a:ext>
            </a:extLst>
          </p:cNvPr>
          <p:cNvSpPr txBox="1"/>
          <p:nvPr/>
        </p:nvSpPr>
        <p:spPr>
          <a:xfrm>
            <a:off x="10681909" y="6404838"/>
            <a:ext cx="1510091" cy="6658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92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02293A7-23A3-F37B-BDB8-B61ABD194E58}"/>
              </a:ext>
            </a:extLst>
          </p:cNvPr>
          <p:cNvGrpSpPr/>
          <p:nvPr/>
        </p:nvGrpSpPr>
        <p:grpSpPr>
          <a:xfrm>
            <a:off x="2159726" y="0"/>
            <a:ext cx="10012289" cy="7045234"/>
            <a:chOff x="0" y="0"/>
            <a:chExt cx="7066280" cy="58039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73E8664-B9EF-3E79-AC22-04DDD0577592}"/>
                </a:ext>
              </a:extLst>
            </p:cNvPr>
            <p:cNvGrpSpPr/>
            <p:nvPr/>
          </p:nvGrpSpPr>
          <p:grpSpPr>
            <a:xfrm>
              <a:off x="3346450" y="6350"/>
              <a:ext cx="3719830" cy="5797550"/>
              <a:chOff x="0" y="0"/>
              <a:chExt cx="3719830" cy="579755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2FCAAA2-CCF4-2408-E7DD-958A8A2693BC}"/>
                  </a:ext>
                </a:extLst>
              </p:cNvPr>
              <p:cNvGrpSpPr/>
              <p:nvPr/>
            </p:nvGrpSpPr>
            <p:grpSpPr>
              <a:xfrm>
                <a:off x="0" y="0"/>
                <a:ext cx="3719830" cy="5797550"/>
                <a:chOff x="0" y="0"/>
                <a:chExt cx="3719830" cy="5797550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FA691097-96A2-7B63-0D22-C5111DE0E9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0"/>
                  <a:ext cx="3719830" cy="5797550"/>
                </a:xfrm>
                <a:prstGeom prst="rect">
                  <a:avLst/>
                </a:prstGeom>
              </p:spPr>
            </p:pic>
            <p:sp>
              <p:nvSpPr>
                <p:cNvPr id="11" name="Text Box 20">
                  <a:extLst>
                    <a:ext uri="{FF2B5EF4-FFF2-40B4-BE49-F238E27FC236}">
                      <a16:creationId xmlns:a16="http://schemas.microsoft.com/office/drawing/2014/main" id="{5F7D189A-4D87-A04E-942B-2FD4B66E05AF}"/>
                    </a:ext>
                  </a:extLst>
                </p:cNvPr>
                <p:cNvSpPr txBox="1"/>
                <p:nvPr/>
              </p:nvSpPr>
              <p:spPr>
                <a:xfrm>
                  <a:off x="1155700" y="139700"/>
                  <a:ext cx="1181100" cy="51435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IN" sz="8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Sentinel 2 satellite images (oct to dec 2020)</a:t>
                  </a:r>
                  <a:endParaRPr lang="en-IN" sz="11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0C13C8F1-193B-C9F9-6BD8-9EBF0EFA78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9" t="1314" r="73882" b="66046"/>
              <a:stretch/>
            </p:blipFill>
            <p:spPr bwMode="auto">
              <a:xfrm rot="16200000">
                <a:off x="470696" y="3366295"/>
                <a:ext cx="1097280" cy="1606865"/>
              </a:xfrm>
              <a:prstGeom prst="rect">
                <a:avLst/>
              </a:prstGeom>
              <a:ln w="28575"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50F1419-5474-E1E1-F314-960B0C33A1F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9" t="1314" r="73882" b="66046"/>
              <a:stretch/>
            </p:blipFill>
            <p:spPr bwMode="auto">
              <a:xfrm rot="14480250">
                <a:off x="996633" y="4292282"/>
                <a:ext cx="417195" cy="919480"/>
              </a:xfrm>
              <a:prstGeom prst="rect">
                <a:avLst/>
              </a:prstGeom>
              <a:ln w="28575"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E8036CC-1E88-22E2-E2A8-758D84EB1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719830" cy="579755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DA2744-BAC1-6177-6C00-A233711992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4C7FDD-5F9F-196B-E694-BA28158CA69E}"/>
              </a:ext>
            </a:extLst>
          </p:cNvPr>
          <p:cNvSpPr txBox="1"/>
          <p:nvPr/>
        </p:nvSpPr>
        <p:spPr>
          <a:xfrm>
            <a:off x="1011924" y="681037"/>
            <a:ext cx="3336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FLOW CHART</a:t>
            </a:r>
          </a:p>
        </p:txBody>
      </p:sp>
    </p:spTree>
    <p:extLst>
      <p:ext uri="{BB962C8B-B14F-4D97-AF65-F5344CB8AC3E}">
        <p14:creationId xmlns:p14="http://schemas.microsoft.com/office/powerpoint/2010/main" val="3151994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515950" y="1164325"/>
            <a:ext cx="11150700" cy="56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IN" sz="2000" dirty="0"/>
          </a:p>
        </p:txBody>
      </p:sp>
      <p:sp>
        <p:nvSpPr>
          <p:cNvPr id="270" name="Google Shape;270;p22"/>
          <p:cNvSpPr/>
          <p:nvPr/>
        </p:nvSpPr>
        <p:spPr>
          <a:xfrm>
            <a:off x="11278950" y="6294675"/>
            <a:ext cx="502200" cy="48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43A53-8C8F-BDDD-E561-7E01D322F28F}"/>
              </a:ext>
            </a:extLst>
          </p:cNvPr>
          <p:cNvSpPr/>
          <p:nvPr/>
        </p:nvSpPr>
        <p:spPr>
          <a:xfrm>
            <a:off x="268448" y="6082018"/>
            <a:ext cx="1543574" cy="702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98B444-3B3B-B977-7E94-64209E4754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382" y="499600"/>
            <a:ext cx="2070100" cy="1696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243C8F-DF66-D832-A538-C812B95922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957" y="1744112"/>
            <a:ext cx="2070735" cy="1696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54D38-1116-5ECF-50EE-339F03BA52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218" y="2688171"/>
            <a:ext cx="4113432" cy="32741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8AE9B39-DC70-02E6-0F61-0149C73070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167" y="2917646"/>
            <a:ext cx="2070735" cy="16941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2C4BAE-1E05-EF75-49B0-AE5D436877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24" y="4097098"/>
            <a:ext cx="2080210" cy="16941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5EE8CB-FCCB-2BF2-8283-E2637E2000D5}"/>
              </a:ext>
            </a:extLst>
          </p:cNvPr>
          <p:cNvSpPr txBox="1"/>
          <p:nvPr/>
        </p:nvSpPr>
        <p:spPr>
          <a:xfrm>
            <a:off x="1260952" y="5791278"/>
            <a:ext cx="1216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BAND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9EC9BC-29E3-C789-7561-1B23074DE844}"/>
              </a:ext>
            </a:extLst>
          </p:cNvPr>
          <p:cNvSpPr txBox="1"/>
          <p:nvPr/>
        </p:nvSpPr>
        <p:spPr>
          <a:xfrm>
            <a:off x="2984500" y="4611826"/>
            <a:ext cx="1216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BAND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7E0D83-D80F-86E9-3435-7EAEBEC6522B}"/>
              </a:ext>
            </a:extLst>
          </p:cNvPr>
          <p:cNvSpPr txBox="1"/>
          <p:nvPr/>
        </p:nvSpPr>
        <p:spPr>
          <a:xfrm>
            <a:off x="4549060" y="3505762"/>
            <a:ext cx="1216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BAND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02BF18-E3CC-49E3-AEA0-09FC0192F4FA}"/>
              </a:ext>
            </a:extLst>
          </p:cNvPr>
          <p:cNvSpPr txBox="1"/>
          <p:nvPr/>
        </p:nvSpPr>
        <p:spPr>
          <a:xfrm>
            <a:off x="6118438" y="2183138"/>
            <a:ext cx="1216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BAND 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1B07C2-05E2-71F3-7019-FAF635E58599}"/>
              </a:ext>
            </a:extLst>
          </p:cNvPr>
          <p:cNvSpPr txBox="1"/>
          <p:nvPr/>
        </p:nvSpPr>
        <p:spPr>
          <a:xfrm>
            <a:off x="5517079" y="3878469"/>
            <a:ext cx="1575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COMPOSITION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7002D519-7652-5AC3-F2B0-AAFBB4256693}"/>
              </a:ext>
            </a:extLst>
          </p:cNvPr>
          <p:cNvSpPr/>
          <p:nvPr/>
        </p:nvSpPr>
        <p:spPr>
          <a:xfrm>
            <a:off x="5311382" y="4186245"/>
            <a:ext cx="2023696" cy="372707"/>
          </a:xfrm>
          <a:prstGeom prst="rightArrow">
            <a:avLst>
              <a:gd name="adj1" fmla="val 50000"/>
              <a:gd name="adj2" fmla="val 7638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82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515950" y="1164325"/>
            <a:ext cx="11150700" cy="56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IN" sz="2000" dirty="0"/>
          </a:p>
        </p:txBody>
      </p:sp>
      <p:sp>
        <p:nvSpPr>
          <p:cNvPr id="270" name="Google Shape;270;p22"/>
          <p:cNvSpPr/>
          <p:nvPr/>
        </p:nvSpPr>
        <p:spPr>
          <a:xfrm>
            <a:off x="11278950" y="6294675"/>
            <a:ext cx="502200" cy="48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43A53-8C8F-BDDD-E561-7E01D322F28F}"/>
              </a:ext>
            </a:extLst>
          </p:cNvPr>
          <p:cNvSpPr/>
          <p:nvPr/>
        </p:nvSpPr>
        <p:spPr>
          <a:xfrm>
            <a:off x="268448" y="6082018"/>
            <a:ext cx="1543574" cy="702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36A6CD-DEC0-F089-BFBD-AA19CA6D3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106D5B-CA85-44B3-83BD-65ECD1FE5444}"/>
              </a:ext>
            </a:extLst>
          </p:cNvPr>
          <p:cNvSpPr txBox="1"/>
          <p:nvPr/>
        </p:nvSpPr>
        <p:spPr>
          <a:xfrm>
            <a:off x="268448" y="506125"/>
            <a:ext cx="2911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MOSAICKING</a:t>
            </a:r>
          </a:p>
        </p:txBody>
      </p:sp>
    </p:spTree>
    <p:extLst>
      <p:ext uri="{BB962C8B-B14F-4D97-AF65-F5344CB8AC3E}">
        <p14:creationId xmlns:p14="http://schemas.microsoft.com/office/powerpoint/2010/main" val="1291604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515950" y="1164325"/>
            <a:ext cx="11150700" cy="56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IN" sz="2000" dirty="0"/>
          </a:p>
        </p:txBody>
      </p:sp>
      <p:sp>
        <p:nvSpPr>
          <p:cNvPr id="270" name="Google Shape;270;p22"/>
          <p:cNvSpPr/>
          <p:nvPr/>
        </p:nvSpPr>
        <p:spPr>
          <a:xfrm>
            <a:off x="11278950" y="6294675"/>
            <a:ext cx="502200" cy="48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43A53-8C8F-BDDD-E561-7E01D322F28F}"/>
              </a:ext>
            </a:extLst>
          </p:cNvPr>
          <p:cNvSpPr/>
          <p:nvPr/>
        </p:nvSpPr>
        <p:spPr>
          <a:xfrm>
            <a:off x="268448" y="6082018"/>
            <a:ext cx="1543574" cy="702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FD1DD2-BBD1-1117-F048-FC5C9971A144}"/>
              </a:ext>
            </a:extLst>
          </p:cNvPr>
          <p:cNvSpPr txBox="1"/>
          <p:nvPr/>
        </p:nvSpPr>
        <p:spPr>
          <a:xfrm>
            <a:off x="690880" y="579550"/>
            <a:ext cx="2744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MASKING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A69D1-83F2-126A-1D62-784CEFBD3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348" y="1682940"/>
            <a:ext cx="3895281" cy="46117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3CCF2C-6C37-15C9-E26E-FF7505E7C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070" y="1749100"/>
            <a:ext cx="3758662" cy="44805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36EC28-857F-851B-32EA-4AD00837E8E0}"/>
              </a:ext>
            </a:extLst>
          </p:cNvPr>
          <p:cNvSpPr txBox="1"/>
          <p:nvPr/>
        </p:nvSpPr>
        <p:spPr>
          <a:xfrm>
            <a:off x="3086616" y="137976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2015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251CF9-10C7-D95F-517D-CEEB82E4B5A3}"/>
              </a:ext>
            </a:extLst>
          </p:cNvPr>
          <p:cNvSpPr txBox="1"/>
          <p:nvPr/>
        </p:nvSpPr>
        <p:spPr>
          <a:xfrm>
            <a:off x="8502174" y="131049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3232346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515950" y="1164325"/>
            <a:ext cx="11150700" cy="56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IN" sz="2000" dirty="0"/>
          </a:p>
        </p:txBody>
      </p:sp>
      <p:sp>
        <p:nvSpPr>
          <p:cNvPr id="270" name="Google Shape;270;p22"/>
          <p:cNvSpPr/>
          <p:nvPr/>
        </p:nvSpPr>
        <p:spPr>
          <a:xfrm>
            <a:off x="11278950" y="6294675"/>
            <a:ext cx="502200" cy="48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43A53-8C8F-BDDD-E561-7E01D322F28F}"/>
              </a:ext>
            </a:extLst>
          </p:cNvPr>
          <p:cNvSpPr/>
          <p:nvPr/>
        </p:nvSpPr>
        <p:spPr>
          <a:xfrm>
            <a:off x="268448" y="6082018"/>
            <a:ext cx="1543574" cy="702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D278FF-4250-D186-7396-9DEEB2DA3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99" y="0"/>
            <a:ext cx="58787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F4A660-6406-31B7-E4E7-367D6AB0C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150" y="0"/>
            <a:ext cx="59118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1E84D6-4D3F-B774-1A35-F2B5EFCF620B}"/>
              </a:ext>
            </a:extLst>
          </p:cNvPr>
          <p:cNvSpPr txBox="1"/>
          <p:nvPr/>
        </p:nvSpPr>
        <p:spPr>
          <a:xfrm>
            <a:off x="4168877" y="619432"/>
            <a:ext cx="1406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MLC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132F79-61FE-B553-2F00-46D3A2D000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00" y="0"/>
            <a:ext cx="5742039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8324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515950" y="1164325"/>
            <a:ext cx="11150700" cy="56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IN" sz="2000" dirty="0"/>
          </a:p>
        </p:txBody>
      </p:sp>
      <p:sp>
        <p:nvSpPr>
          <p:cNvPr id="270" name="Google Shape;270;p22"/>
          <p:cNvSpPr/>
          <p:nvPr/>
        </p:nvSpPr>
        <p:spPr>
          <a:xfrm>
            <a:off x="11278950" y="6294675"/>
            <a:ext cx="502200" cy="48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43A53-8C8F-BDDD-E561-7E01D322F28F}"/>
              </a:ext>
            </a:extLst>
          </p:cNvPr>
          <p:cNvSpPr/>
          <p:nvPr/>
        </p:nvSpPr>
        <p:spPr>
          <a:xfrm>
            <a:off x="268448" y="6082018"/>
            <a:ext cx="1543574" cy="702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675AF0-F778-092A-8938-3899668B6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50" y="949053"/>
            <a:ext cx="5286957" cy="59089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A421BE-7DC5-3549-21C1-8ABCA799143D}"/>
              </a:ext>
            </a:extLst>
          </p:cNvPr>
          <p:cNvSpPr txBox="1"/>
          <p:nvPr/>
        </p:nvSpPr>
        <p:spPr>
          <a:xfrm>
            <a:off x="620453" y="1016000"/>
            <a:ext cx="706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MLC</a:t>
            </a:r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E7CAD0-4933-4CE3-DFE3-18204A132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595" y="897333"/>
            <a:ext cx="5286957" cy="59606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60A1FD-D588-857C-30C7-2C295F920C43}"/>
              </a:ext>
            </a:extLst>
          </p:cNvPr>
          <p:cNvSpPr txBox="1"/>
          <p:nvPr/>
        </p:nvSpPr>
        <p:spPr>
          <a:xfrm>
            <a:off x="6636595" y="1016000"/>
            <a:ext cx="131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Random Forest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E6A67-048D-3E39-4F09-A20CD8F92A02}"/>
              </a:ext>
            </a:extLst>
          </p:cNvPr>
          <p:cNvSpPr txBox="1"/>
          <p:nvPr/>
        </p:nvSpPr>
        <p:spPr>
          <a:xfrm>
            <a:off x="5742486" y="11702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1268671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>
          <a:extLst>
            <a:ext uri="{FF2B5EF4-FFF2-40B4-BE49-F238E27FC236}">
              <a16:creationId xmlns:a16="http://schemas.microsoft.com/office/drawing/2014/main" id="{0F6BCFF4-D418-892B-27FB-0A80CC7C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>
            <a:extLst>
              <a:ext uri="{FF2B5EF4-FFF2-40B4-BE49-F238E27FC236}">
                <a16:creationId xmlns:a16="http://schemas.microsoft.com/office/drawing/2014/main" id="{4D1571F0-7BE0-8132-5C30-FA34D79F8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5950" y="1164325"/>
            <a:ext cx="11150700" cy="56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IN" sz="2000" dirty="0"/>
          </a:p>
        </p:txBody>
      </p:sp>
      <p:sp>
        <p:nvSpPr>
          <p:cNvPr id="270" name="Google Shape;270;p22">
            <a:extLst>
              <a:ext uri="{FF2B5EF4-FFF2-40B4-BE49-F238E27FC236}">
                <a16:creationId xmlns:a16="http://schemas.microsoft.com/office/drawing/2014/main" id="{3DC1BF1E-0EFE-57DB-1A6F-275A50BC8824}"/>
              </a:ext>
            </a:extLst>
          </p:cNvPr>
          <p:cNvSpPr/>
          <p:nvPr/>
        </p:nvSpPr>
        <p:spPr>
          <a:xfrm>
            <a:off x="11278950" y="6294675"/>
            <a:ext cx="502200" cy="48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5133E9-2269-B88A-A5F8-4E8FEF5F1B1F}"/>
              </a:ext>
            </a:extLst>
          </p:cNvPr>
          <p:cNvSpPr/>
          <p:nvPr/>
        </p:nvSpPr>
        <p:spPr>
          <a:xfrm>
            <a:off x="268448" y="6082018"/>
            <a:ext cx="1543574" cy="702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7B29E-C8DC-4E64-657E-AB8B6CC5A52F}"/>
              </a:ext>
            </a:extLst>
          </p:cNvPr>
          <p:cNvSpPr txBox="1"/>
          <p:nvPr/>
        </p:nvSpPr>
        <p:spPr>
          <a:xfrm>
            <a:off x="620453" y="1016000"/>
            <a:ext cx="706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MLC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735E1E-919C-18C0-447C-482367C22BEC}"/>
              </a:ext>
            </a:extLst>
          </p:cNvPr>
          <p:cNvSpPr txBox="1"/>
          <p:nvPr/>
        </p:nvSpPr>
        <p:spPr>
          <a:xfrm>
            <a:off x="6636595" y="1016000"/>
            <a:ext cx="131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Random Forest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7AFBE-1234-B814-DF2F-ECA2ACCB13F3}"/>
              </a:ext>
            </a:extLst>
          </p:cNvPr>
          <p:cNvSpPr txBox="1"/>
          <p:nvPr/>
        </p:nvSpPr>
        <p:spPr>
          <a:xfrm>
            <a:off x="5742486" y="20411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2020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AA3B8-4744-A771-4173-269A4BC47109}"/>
              </a:ext>
            </a:extLst>
          </p:cNvPr>
          <p:cNvSpPr txBox="1"/>
          <p:nvPr/>
        </p:nvSpPr>
        <p:spPr>
          <a:xfrm>
            <a:off x="620453" y="1016000"/>
            <a:ext cx="4674358" cy="56112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ED82F-368A-D13D-D789-697C8B1814C7}"/>
              </a:ext>
            </a:extLst>
          </p:cNvPr>
          <p:cNvSpPr txBox="1"/>
          <p:nvPr/>
        </p:nvSpPr>
        <p:spPr>
          <a:xfrm>
            <a:off x="6666408" y="1016000"/>
            <a:ext cx="4674358" cy="56112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030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576F-4A43-7CB2-454C-82A178E6D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46621"/>
            <a:ext cx="11229658" cy="444259"/>
          </a:xfrm>
        </p:spPr>
        <p:txBody>
          <a:bodyPr/>
          <a:lstStyle/>
          <a:p>
            <a:r>
              <a:rPr lang="en-IN" dirty="0"/>
              <a:t>COMPARATIVE ANALYSIS OF DEFORESTATION: 2015 vs 2020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34E15C-E88A-48A1-0DB0-FE076BA372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295D4-418A-7C99-864D-7F55CF1B137C}"/>
              </a:ext>
            </a:extLst>
          </p:cNvPr>
          <p:cNvSpPr txBox="1"/>
          <p:nvPr/>
        </p:nvSpPr>
        <p:spPr>
          <a:xfrm>
            <a:off x="830910" y="1498153"/>
            <a:ext cx="70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2015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474E5-CC0F-739C-4335-A238F3BA4C59}"/>
              </a:ext>
            </a:extLst>
          </p:cNvPr>
          <p:cNvSpPr txBox="1"/>
          <p:nvPr/>
        </p:nvSpPr>
        <p:spPr>
          <a:xfrm>
            <a:off x="6967550" y="1498153"/>
            <a:ext cx="70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2020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0A7A4A-B124-4642-D5BD-AF6842DB3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610586"/>
              </p:ext>
            </p:extLst>
          </p:nvPr>
        </p:nvGraphicFramePr>
        <p:xfrm>
          <a:off x="830909" y="2542903"/>
          <a:ext cx="4881915" cy="2647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383">
                  <a:extLst>
                    <a:ext uri="{9D8B030D-6E8A-4147-A177-3AD203B41FA5}">
                      <a16:colId xmlns:a16="http://schemas.microsoft.com/office/drawing/2014/main" val="2971483441"/>
                    </a:ext>
                  </a:extLst>
                </a:gridCol>
                <a:gridCol w="976383">
                  <a:extLst>
                    <a:ext uri="{9D8B030D-6E8A-4147-A177-3AD203B41FA5}">
                      <a16:colId xmlns:a16="http://schemas.microsoft.com/office/drawing/2014/main" val="1377574013"/>
                    </a:ext>
                  </a:extLst>
                </a:gridCol>
                <a:gridCol w="976383">
                  <a:extLst>
                    <a:ext uri="{9D8B030D-6E8A-4147-A177-3AD203B41FA5}">
                      <a16:colId xmlns:a16="http://schemas.microsoft.com/office/drawing/2014/main" val="1791849848"/>
                    </a:ext>
                  </a:extLst>
                </a:gridCol>
                <a:gridCol w="976383">
                  <a:extLst>
                    <a:ext uri="{9D8B030D-6E8A-4147-A177-3AD203B41FA5}">
                      <a16:colId xmlns:a16="http://schemas.microsoft.com/office/drawing/2014/main" val="2562686536"/>
                    </a:ext>
                  </a:extLst>
                </a:gridCol>
                <a:gridCol w="976383">
                  <a:extLst>
                    <a:ext uri="{9D8B030D-6E8A-4147-A177-3AD203B41FA5}">
                      <a16:colId xmlns:a16="http://schemas.microsoft.com/office/drawing/2014/main" val="1763550189"/>
                    </a:ext>
                  </a:extLst>
                </a:gridCol>
              </a:tblGrid>
              <a:tr h="35465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003871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311926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274192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443930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153755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762615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00111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5B99A55-028F-F8F6-9F05-7E6F893B3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610586"/>
              </p:ext>
            </p:extLst>
          </p:nvPr>
        </p:nvGraphicFramePr>
        <p:xfrm>
          <a:off x="6900783" y="2542902"/>
          <a:ext cx="4881915" cy="2647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383">
                  <a:extLst>
                    <a:ext uri="{9D8B030D-6E8A-4147-A177-3AD203B41FA5}">
                      <a16:colId xmlns:a16="http://schemas.microsoft.com/office/drawing/2014/main" val="2971483441"/>
                    </a:ext>
                  </a:extLst>
                </a:gridCol>
                <a:gridCol w="976383">
                  <a:extLst>
                    <a:ext uri="{9D8B030D-6E8A-4147-A177-3AD203B41FA5}">
                      <a16:colId xmlns:a16="http://schemas.microsoft.com/office/drawing/2014/main" val="1377574013"/>
                    </a:ext>
                  </a:extLst>
                </a:gridCol>
                <a:gridCol w="976383">
                  <a:extLst>
                    <a:ext uri="{9D8B030D-6E8A-4147-A177-3AD203B41FA5}">
                      <a16:colId xmlns:a16="http://schemas.microsoft.com/office/drawing/2014/main" val="1791849848"/>
                    </a:ext>
                  </a:extLst>
                </a:gridCol>
                <a:gridCol w="976383">
                  <a:extLst>
                    <a:ext uri="{9D8B030D-6E8A-4147-A177-3AD203B41FA5}">
                      <a16:colId xmlns:a16="http://schemas.microsoft.com/office/drawing/2014/main" val="2562686536"/>
                    </a:ext>
                  </a:extLst>
                </a:gridCol>
                <a:gridCol w="976383">
                  <a:extLst>
                    <a:ext uri="{9D8B030D-6E8A-4147-A177-3AD203B41FA5}">
                      <a16:colId xmlns:a16="http://schemas.microsoft.com/office/drawing/2014/main" val="1763550189"/>
                    </a:ext>
                  </a:extLst>
                </a:gridCol>
              </a:tblGrid>
              <a:tr h="35465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003871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311926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274192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443930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153755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762615"/>
                  </a:ext>
                </a:extLst>
              </a:tr>
              <a:tr h="382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001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612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5BCD4-BE2F-011C-28FC-90DDD8205C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90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 txBox="1">
            <a:spLocks noGrp="1"/>
          </p:cNvSpPr>
          <p:nvPr>
            <p:ph type="sldNum" idx="12"/>
          </p:nvPr>
        </p:nvSpPr>
        <p:spPr>
          <a:xfrm>
            <a:off x="11363696" y="6455739"/>
            <a:ext cx="294600" cy="187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13" name="Google Shape;313;p26"/>
          <p:cNvSpPr txBox="1">
            <a:spLocks noGrp="1"/>
          </p:cNvSpPr>
          <p:nvPr>
            <p:ph type="body" idx="1"/>
          </p:nvPr>
        </p:nvSpPr>
        <p:spPr>
          <a:xfrm>
            <a:off x="515938" y="1825625"/>
            <a:ext cx="108378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 sz="1800" dirty="0"/>
              <a:t>Utilize advanced satellite imagery and deep learning algorithms.</a:t>
            </a:r>
            <a:endParaRPr sz="1800" dirty="0"/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 sz="1800" dirty="0"/>
              <a:t>Generate highly detailed maps of deforestation patterns and hotspots.</a:t>
            </a:r>
            <a:endParaRPr sz="1800" dirty="0"/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 sz="1800" dirty="0"/>
              <a:t>Identify priority areas for conservation and intervention.</a:t>
            </a:r>
            <a:endParaRPr sz="1800" dirty="0"/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 sz="1800" dirty="0"/>
              <a:t>Contribute to understanding drivers and dynamics of deforestation.</a:t>
            </a:r>
            <a:endParaRPr sz="1800" dirty="0"/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  <a:p>
            <a:pPr lvl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r>
              <a:rPr lang="en-US" sz="1800" dirty="0"/>
              <a:t>Serve as valuable resources for policymakers, researchers, and communities.</a:t>
            </a:r>
          </a:p>
          <a:p>
            <a:pPr lvl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endParaRPr lang="en-US" sz="1800" dirty="0"/>
          </a:p>
          <a:p>
            <a:pPr lvl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r>
              <a:rPr lang="en-US" sz="1800" dirty="0"/>
              <a:t>The results highlight the difference in deforestation patterns between 2015 and 2020.</a:t>
            </a:r>
          </a:p>
          <a:p>
            <a:pPr lvl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endParaRPr lang="en-US" sz="1800" dirty="0"/>
          </a:p>
          <a:p>
            <a:pPr lvl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r>
              <a:rPr lang="en-US" sz="1800" dirty="0"/>
              <a:t>This comparison helps identify </a:t>
            </a:r>
            <a:r>
              <a:rPr lang="en-US" sz="1800" dirty="0" err="1"/>
              <a:t>trends,underlying</a:t>
            </a:r>
            <a:r>
              <a:rPr lang="en-US" sz="1800" dirty="0"/>
              <a:t> </a:t>
            </a:r>
            <a:r>
              <a:rPr lang="en-US" sz="1800" dirty="0" err="1"/>
              <a:t>causes,and</a:t>
            </a:r>
            <a:r>
              <a:rPr lang="en-US" sz="1800" dirty="0"/>
              <a:t> the overall impact of deforestation during the studied period.</a:t>
            </a:r>
          </a:p>
          <a:p>
            <a:pPr lvl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endParaRPr lang="en-US" sz="1800" dirty="0"/>
          </a:p>
          <a:p>
            <a:pPr lvl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en-IN" sz="1800" dirty="0"/>
          </a:p>
        </p:txBody>
      </p:sp>
      <p:sp>
        <p:nvSpPr>
          <p:cNvPr id="314" name="Google Shape;314;p26"/>
          <p:cNvSpPr txBox="1">
            <a:spLocks noGrp="1"/>
          </p:cNvSpPr>
          <p:nvPr>
            <p:ph type="title"/>
          </p:nvPr>
        </p:nvSpPr>
        <p:spPr>
          <a:xfrm>
            <a:off x="515938" y="246621"/>
            <a:ext cx="11150700" cy="920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OUTCOMES </a:t>
            </a:r>
            <a:endParaRPr dirty="0"/>
          </a:p>
        </p:txBody>
      </p:sp>
      <p:sp>
        <p:nvSpPr>
          <p:cNvPr id="315" name="Google Shape;315;p26"/>
          <p:cNvSpPr/>
          <p:nvPr/>
        </p:nvSpPr>
        <p:spPr>
          <a:xfrm>
            <a:off x="416375" y="6245675"/>
            <a:ext cx="1273500" cy="51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11291200" y="6343650"/>
            <a:ext cx="489900" cy="4164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toso v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586</Words>
  <Application>Microsoft Office PowerPoint</Application>
  <PresentationFormat>Widescreen</PresentationFormat>
  <Paragraphs>164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Wingdings</vt:lpstr>
      <vt:lpstr>Times New Roman</vt:lpstr>
      <vt:lpstr>Calibri</vt:lpstr>
      <vt:lpstr>Arial</vt:lpstr>
      <vt:lpstr>Corbel</vt:lpstr>
      <vt:lpstr>Office Theme</vt:lpstr>
      <vt:lpstr>PowerPoint Presentation</vt:lpstr>
      <vt:lpstr>INTRODUCTION</vt:lpstr>
      <vt:lpstr>Progression and Comparative Analysis of Deforestation Data (2015 vs 2020)</vt:lpstr>
      <vt:lpstr>MOTIVATION </vt:lpstr>
      <vt:lpstr>OBJECTIVES </vt:lpstr>
      <vt:lpstr>OVERVIEW </vt:lpstr>
      <vt:lpstr>SOLUTION</vt:lpstr>
      <vt:lpstr>Processing of sentinel-2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COMPARATIVE ANALYSIS OF DEFORESTATION: 2015 vs 2020</vt:lpstr>
      <vt:lpstr>PowerPoint Presentation</vt:lpstr>
      <vt:lpstr>    OUTCOMES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KESHAV RUHELA</cp:lastModifiedBy>
  <cp:revision>17</cp:revision>
  <dcterms:modified xsi:type="dcterms:W3CDTF">2024-11-25T08:41:33Z</dcterms:modified>
</cp:coreProperties>
</file>